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5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4952" y="422810"/>
            <a:ext cx="7772400" cy="1470025"/>
          </a:xfrm>
        </p:spPr>
        <p:txBody>
          <a:bodyPr/>
          <a:lstStyle/>
          <a:p>
            <a:pPr>
              <a:defRPr sz="5400"/>
            </a:pPr>
            <a:r>
              <a:rPr dirty="0" err="1"/>
              <a:t>sinSPICE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2520" y="2005070"/>
            <a:ext cx="9966960" cy="2651760"/>
          </a:xfrm>
        </p:spPr>
        <p:txBody>
          <a:bodyPr wrap="square"/>
          <a:lstStyle/>
          <a:p>
            <a:pPr algn="l">
              <a:defRPr sz="2200"/>
            </a:pPr>
            <a:r>
              <a:rPr dirty="0"/>
              <a:t>Synthetic Solar Orbiter/SPICE spectra from 3D MURaM snapshots</a:t>
            </a:r>
          </a:p>
          <a:p>
            <a:pPr algn="l">
              <a:defRPr sz="1600"/>
            </a:pPr>
            <a:r>
              <a:rPr dirty="0"/>
              <a:t>Two products from the </a:t>
            </a:r>
            <a:r>
              <a:rPr lang="en-US" dirty="0"/>
              <a:t>MURaM </a:t>
            </a:r>
            <a:r>
              <a:rPr dirty="0"/>
              <a:t>cubes:</a:t>
            </a:r>
          </a:p>
          <a:p>
            <a:pPr algn="l">
              <a:defRPr sz="1600"/>
            </a:pPr>
            <a:r>
              <a:rPr dirty="0"/>
              <a:t>1.  Forward synthesis  —  optically thin EUV line profiles, I(x, y, </a:t>
            </a:r>
            <a:r>
              <a:rPr dirty="0" err="1"/>
              <a:t>λ</a:t>
            </a:r>
            <a:r>
              <a:rPr dirty="0"/>
              <a:t>, t)</a:t>
            </a:r>
          </a:p>
          <a:p>
            <a:pPr algn="l">
              <a:defRPr sz="1600"/>
            </a:pPr>
            <a:r>
              <a:rPr dirty="0"/>
              <a:t>2.  Opacity diagnostic  —  line optical depth </a:t>
            </a:r>
            <a:r>
              <a:rPr dirty="0" err="1"/>
              <a:t>τ</a:t>
            </a:r>
            <a:r>
              <a:rPr dirty="0"/>
              <a:t>(</a:t>
            </a:r>
            <a:r>
              <a:rPr dirty="0" err="1"/>
              <a:t>λ</a:t>
            </a:r>
            <a:r>
              <a:rPr dirty="0"/>
              <a:t>), i.e. where step 1 is allowed to be trusted</a:t>
            </a:r>
          </a:p>
          <a:p>
            <a:pPr algn="l">
              <a:defRPr sz="1600"/>
            </a:pPr>
            <a:endParaRPr dirty="0"/>
          </a:p>
          <a:p>
            <a:pPr algn="l">
              <a:defRPr sz="1600"/>
            </a:pPr>
            <a:r>
              <a:rPr dirty="0" err="1"/>
              <a:t>github</a:t>
            </a:r>
            <a:r>
              <a:rPr dirty="0"/>
              <a:t>: </a:t>
            </a:r>
            <a:r>
              <a:rPr dirty="0" err="1"/>
              <a:t>sinSPICE</a:t>
            </a:r>
            <a:r>
              <a:rPr dirty="0"/>
              <a:t>  ·  docs/</a:t>
            </a:r>
            <a:r>
              <a:rPr dirty="0" err="1"/>
              <a:t>introduction.md</a:t>
            </a:r>
            <a:r>
              <a:rPr dirty="0"/>
              <a:t>, docs/</a:t>
            </a:r>
            <a:r>
              <a:rPr dirty="0" err="1"/>
              <a:t>spice_optical_depth.md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What the code needs from your MURaM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4937760"/>
          </a:xfrm>
        </p:spPr>
        <p:txBody>
          <a:bodyPr wrap="square">
            <a:normAutofit lnSpcReduction="10000"/>
          </a:bodyPr>
          <a:lstStyle/>
          <a:p>
            <a:pPr>
              <a:spcAft>
                <a:spcPts val="600"/>
              </a:spcAft>
              <a:defRPr sz="1600" b="1"/>
            </a:pPr>
            <a:r>
              <a:rPr dirty="0"/>
              <a:t>Five full-domain files per iteration, read straight from the 3D output directory</a:t>
            </a:r>
          </a:p>
          <a:p>
            <a:pPr lvl="1">
              <a:spcAft>
                <a:spcPts val="600"/>
              </a:spcAft>
              <a:defRPr sz="1400"/>
            </a:pPr>
            <a:r>
              <a:rPr dirty="0"/>
              <a:t>Header.&lt;iteration&gt;  —  grid dimensions, cell spacings </a:t>
            </a:r>
            <a:r>
              <a:rPr dirty="0" err="1"/>
              <a:t>dX</a:t>
            </a:r>
            <a:r>
              <a:rPr dirty="0"/>
              <a:t> (cm), simulation time (s)</a:t>
            </a:r>
          </a:p>
          <a:p>
            <a:pPr lvl="1">
              <a:spcAft>
                <a:spcPts val="600"/>
              </a:spcAft>
              <a:defRPr sz="1400"/>
            </a:pPr>
            <a:r>
              <a:rPr dirty="0" err="1"/>
              <a:t>eosT</a:t>
            </a:r>
            <a:r>
              <a:rPr dirty="0"/>
              <a:t>.&lt;iteration&gt;  —  temperature (K)</a:t>
            </a:r>
          </a:p>
          <a:p>
            <a:pPr lvl="1">
              <a:spcAft>
                <a:spcPts val="600"/>
              </a:spcAft>
              <a:defRPr sz="1400"/>
            </a:pPr>
            <a:r>
              <a:rPr dirty="0" err="1"/>
              <a:t>eosne</a:t>
            </a:r>
            <a:r>
              <a:rPr dirty="0"/>
              <a:t>.&lt;iteration&gt;  —  electron density (cm⁻³)</a:t>
            </a:r>
          </a:p>
          <a:p>
            <a:pPr lvl="1">
              <a:spcAft>
                <a:spcPts val="600"/>
              </a:spcAft>
              <a:defRPr sz="1400"/>
            </a:pPr>
            <a:r>
              <a:rPr dirty="0"/>
              <a:t>result_prim_0.&lt;iteration&gt;  —  mass density </a:t>
            </a:r>
            <a:r>
              <a:rPr dirty="0" err="1"/>
              <a:t>ρ</a:t>
            </a:r>
            <a:r>
              <a:rPr dirty="0"/>
              <a:t> (g cm⁻³)</a:t>
            </a:r>
          </a:p>
          <a:p>
            <a:pPr lvl="1">
              <a:spcAft>
                <a:spcPts val="600"/>
              </a:spcAft>
              <a:defRPr sz="1400"/>
            </a:pPr>
            <a:r>
              <a:rPr dirty="0"/>
              <a:t>result_prim_1.&lt;iteration&gt;  —  native vertical velocity </a:t>
            </a:r>
            <a:r>
              <a:rPr dirty="0" err="1"/>
              <a:t>vx</a:t>
            </a:r>
            <a:r>
              <a:rPr dirty="0"/>
              <a:t> (cm s⁻¹)</a:t>
            </a:r>
          </a:p>
          <a:p>
            <a:pPr>
              <a:spcAft>
                <a:spcPts val="600"/>
              </a:spcAft>
              <a:defRPr sz="1600" b="1"/>
            </a:pPr>
            <a:r>
              <a:rPr dirty="0"/>
              <a:t>Conventions the readers assume</a:t>
            </a:r>
          </a:p>
          <a:p>
            <a:pPr lvl="1">
              <a:spcAft>
                <a:spcPts val="600"/>
              </a:spcAft>
              <a:defRPr sz="1400"/>
            </a:pPr>
            <a:r>
              <a:rPr dirty="0"/>
              <a:t>Native cube axes are (x, y, z) with x vertical; files are memory-mapped, never fully loaded</a:t>
            </a:r>
          </a:p>
          <a:p>
            <a:pPr lvl="1">
              <a:spcAft>
                <a:spcPts val="600"/>
              </a:spcAft>
              <a:defRPr sz="1400"/>
            </a:pPr>
            <a:r>
              <a:rPr dirty="0"/>
              <a:t>Transposing to (z, y, x) gives two horizontal axes then height; line-of-sight cell length is </a:t>
            </a:r>
            <a:r>
              <a:rPr dirty="0" err="1"/>
              <a:t>dX</a:t>
            </a:r>
            <a:r>
              <a:rPr dirty="0"/>
              <a:t>[0]</a:t>
            </a:r>
          </a:p>
          <a:p>
            <a:pPr lvl="1">
              <a:spcAft>
                <a:spcPts val="600"/>
              </a:spcAft>
              <a:defRPr sz="1400"/>
            </a:pPr>
            <a:r>
              <a:rPr dirty="0"/>
              <a:t>Positive </a:t>
            </a:r>
            <a:r>
              <a:rPr dirty="0" err="1"/>
              <a:t>vx</a:t>
            </a:r>
            <a:r>
              <a:rPr dirty="0"/>
              <a:t> points toward an observer at the upper x boundary → blueshift (--observer top)</a:t>
            </a:r>
          </a:p>
          <a:p>
            <a:pPr lvl="1">
              <a:spcAft>
                <a:spcPts val="600"/>
              </a:spcAft>
              <a:defRPr sz="1400"/>
            </a:pPr>
            <a:r>
              <a:rPr dirty="0"/>
              <a:t>Iteration index is a filename label with ≥ 6 digits (e.g. 400000); physical time comes from the header</a:t>
            </a:r>
          </a:p>
          <a:p>
            <a:pPr>
              <a:spcAft>
                <a:spcPts val="600"/>
              </a:spcAft>
              <a:defRPr sz="1600" b="1"/>
            </a:pPr>
            <a:r>
              <a:rPr dirty="0"/>
              <a:t>Assumptions I currently supply by hand — please confirm for each run</a:t>
            </a:r>
          </a:p>
          <a:p>
            <a:pPr lvl="1">
              <a:spcAft>
                <a:spcPts val="600"/>
              </a:spcAft>
              <a:defRPr sz="1400"/>
            </a:pPr>
            <a:r>
              <a:rPr dirty="0"/>
              <a:t>Hydrogen mass fraction X_H = 0.74, used as </a:t>
            </a:r>
            <a:r>
              <a:rPr dirty="0" err="1"/>
              <a:t>n_H</a:t>
            </a:r>
            <a:r>
              <a:rPr dirty="0"/>
              <a:t> = X_H </a:t>
            </a:r>
            <a:r>
              <a:rPr dirty="0" err="1"/>
              <a:t>ρ</a:t>
            </a:r>
            <a:r>
              <a:rPr dirty="0"/>
              <a:t> / (1.00794 </a:t>
            </a:r>
            <a:r>
              <a:rPr dirty="0" err="1"/>
              <a:t>m_u</a:t>
            </a:r>
            <a:r>
              <a:rPr dirty="0"/>
              <a:t>); should match your EOS composition</a:t>
            </a:r>
          </a:p>
          <a:p>
            <a:pPr lvl="1">
              <a:spcAft>
                <a:spcPts val="600"/>
              </a:spcAft>
              <a:defRPr sz="1400"/>
            </a:pPr>
            <a:r>
              <a:rPr dirty="0"/>
              <a:t>Lower integration boundary is a fixed vertical index (default 150) — not a universal photospheric height</a:t>
            </a:r>
          </a:p>
          <a:p>
            <a:pPr lvl="1">
              <a:spcAft>
                <a:spcPts val="600"/>
              </a:spcAft>
              <a:defRPr sz="1400"/>
            </a:pPr>
            <a:r>
              <a:rPr dirty="0"/>
              <a:t>Only vertical, axis-aligned rays; a slanted view would need ray resampling and all three velocity 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Product 1: forward synthesis (optically thin)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4937760"/>
          </a:xfrm>
        </p:spPr>
        <p:txBody>
          <a:bodyPr wrap="square"/>
          <a:lstStyle/>
          <a:p>
            <a:pPr>
              <a:spcAft>
                <a:spcPts val="600"/>
              </a:spcAft>
              <a:defRPr sz="1600" b="1"/>
            </a:pPr>
            <a:r>
              <a:t>modules/synthesizeLines.py, driven by example.py / example_CIII.py</a:t>
            </a:r>
          </a:p>
          <a:p>
            <a:pPr>
              <a:spcAft>
                <a:spcPts val="600"/>
              </a:spcAft>
              <a:defRPr sz="1600" b="1"/>
            </a:pPr>
            <a:r>
              <a:t>Per line, once: build the contribution function</a:t>
            </a:r>
          </a:p>
          <a:p>
            <a:pPr lvl="1">
              <a:spcAft>
                <a:spcPts val="600"/>
              </a:spcAft>
              <a:defRPr sz="1400"/>
            </a:pPr>
            <a:r>
              <a:t>ChiantiPy gives G(T, nₑ) on a log grid — default log₁₀T = 4–7.5 (100 pts), log₁₀nₑ = 5–12 (80 pts)</a:t>
            </a:r>
          </a:p>
          <a:p>
            <a:pPr lvl="1">
              <a:spcAft>
                <a:spcPts val="600"/>
              </a:spcAft>
              <a:defRPr sz="1400"/>
            </a:pPr>
            <a:r>
              <a:t>Table is wrapped in a SciPy RectBivariateSpline and cached to an .npz</a:t>
            </a:r>
          </a:p>
          <a:p>
            <a:pPr>
              <a:spcAft>
                <a:spcPts val="600"/>
              </a:spcAft>
              <a:defRPr sz="1600" b="1"/>
            </a:pPr>
            <a:r>
              <a:t>Per vertical column, per cell: build and accumulate the profile</a:t>
            </a:r>
          </a:p>
          <a:p>
            <a:pPr lvl="1">
              <a:spcAft>
                <a:spcPts val="600"/>
              </a:spcAft>
              <a:defRPr sz="1400"/>
            </a:pPr>
            <a:r>
              <a:t>Doppler shift  Δλ = − v / c · λ₀   (top observer)</a:t>
            </a:r>
          </a:p>
          <a:p>
            <a:pPr lvl="1">
              <a:spcAft>
                <a:spcPts val="600"/>
              </a:spcAft>
              <a:defRPr sz="1400"/>
            </a:pPr>
            <a:r>
              <a:t>Thermal width  σ = (λ₀ / c) · √(k_B T / m_ion),  all constants in CGS</a:t>
            </a:r>
          </a:p>
          <a:p>
            <a:pPr lvl="1">
              <a:spcAft>
                <a:spcPts val="600"/>
              </a:spcAft>
              <a:defRPr sz="1400"/>
            </a:pPr>
            <a:r>
              <a:t>Weight by emission measure:  I += G(T, nₑ) · nₑ · n_H · ds · Gaussian(λ)</a:t>
            </a:r>
          </a:p>
          <a:p>
            <a:pPr lvl="1">
              <a:spcAft>
                <a:spcPts val="600"/>
              </a:spcAft>
              <a:defRPr sz="1400"/>
            </a:pPr>
            <a:r>
              <a:t>Whole cells are summed — no trapezoid, so boundary cells are not half-counted</a:t>
            </a:r>
          </a:p>
          <a:p>
            <a:pPr>
              <a:spcAft>
                <a:spcPts val="600"/>
              </a:spcAft>
              <a:defRPr sz="1600" b="1"/>
            </a:pPr>
            <a:r>
              <a:t>Per snapshot: columns below a temperature clip are dropped</a:t>
            </a:r>
          </a:p>
          <a:p>
            <a:pPr lvl="1">
              <a:spcAft>
                <a:spcPts val="600"/>
              </a:spcAft>
              <a:defRPr sz="1400"/>
            </a:pPr>
            <a:r>
              <a:t>For each (x, y), integration starts at the height closest to TempClip = 2×10⁴ K above index 150</a:t>
            </a:r>
          </a:p>
          <a:p>
            <a:pPr>
              <a:spcAft>
                <a:spcPts val="600"/>
              </a:spcAft>
              <a:defRPr sz="1600" b="1"/>
            </a:pPr>
            <a:r>
              <a:t>Result: intensity per Ångström, erg s⁻¹ cm⁻² sr⁻¹ Å⁻¹; wavelength grid is descending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Product 2: SPICE line opacity diagnostic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4937760"/>
          </a:xfrm>
        </p:spPr>
        <p:txBody>
          <a:bodyPr wrap="square"/>
          <a:lstStyle/>
          <a:p>
            <a:pPr>
              <a:spcAft>
                <a:spcPts val="600"/>
              </a:spcAft>
              <a:defRPr sz="1500" b="1"/>
            </a:pPr>
            <a:r>
              <a:t>compute_spice_optical_depth.py + modules/spiceOpticalDepth.py  —  answers “is optically thin OK here?”</a:t>
            </a:r>
          </a:p>
          <a:p>
            <a:pPr>
              <a:spcAft>
                <a:spcPts val="600"/>
              </a:spcAft>
              <a:defRPr sz="1500" b="1"/>
            </a:pPr>
            <a:r>
              <a:t>Line list follows Table 1 of SPICE Consortium et al. 2020 (A&amp;A 642, A14)</a:t>
            </a:r>
          </a:p>
          <a:p>
            <a:pPr lvl="1">
              <a:spcAft>
                <a:spcPts val="600"/>
              </a:spcAft>
              <a:defRPr sz="1300"/>
            </a:pPr>
            <a:r>
              <a:t>18 catalogued features over the 704–790 and 973–1049 Å bands; 8 defaults for TR/coronal models</a:t>
            </a:r>
          </a:p>
          <a:p>
            <a:pPr lvl="1">
              <a:spcAft>
                <a:spcPts val="600"/>
              </a:spcAft>
              <a:defRPr sz="1300"/>
            </a:pPr>
            <a:r>
              <a:t>Includes H I 1025, C III 977, O VI 1031/1037 doublet, Ne VIII 770, Mg IX 706, Si XII (2nd order, 520.67 Å)</a:t>
            </a:r>
          </a:p>
          <a:p>
            <a:pPr lvl="1">
              <a:spcAft>
                <a:spcPts val="600"/>
              </a:spcAft>
              <a:defRPr sz="1300"/>
            </a:pPr>
            <a:r>
              <a:t>Transitions are matched within ±0.15 Å; every matching same-ion component is kept and summed</a:t>
            </a:r>
          </a:p>
          <a:p>
            <a:pPr>
              <a:spcAft>
                <a:spcPts val="600"/>
              </a:spcAft>
              <a:defRPr sz="1500" b="1"/>
            </a:pPr>
            <a:r>
              <a:t>Level populations, not just ion fractions</a:t>
            </a:r>
          </a:p>
          <a:p>
            <a:pPr lvl="1">
              <a:spcAft>
                <a:spcPts val="600"/>
              </a:spcAft>
              <a:defRPr sz="1300"/>
            </a:pPr>
            <a:r>
              <a:t>Q_i(T, nₑ) = A_X · F_q(T) · p_i(T, nₑ) = n_i / n_H, from ChiantiPy populate() + IoneqOne</a:t>
            </a:r>
          </a:p>
          <a:p>
            <a:pPr lvl="1">
              <a:spcAft>
                <a:spcPts val="600"/>
              </a:spcAft>
              <a:defRPr sz="1300"/>
            </a:pPr>
            <a:r>
              <a:t>Cached by a signature covering grids, transitions, abundances, code and database versions, file hashes</a:t>
            </a:r>
          </a:p>
          <a:p>
            <a:pPr>
              <a:spcAft>
                <a:spcPts val="600"/>
              </a:spcAft>
              <a:defRPr sz="1500" b="1"/>
            </a:pPr>
            <a:r>
              <a:t>Extinction with stimulated emission, integrated over whole cells</a:t>
            </a:r>
          </a:p>
          <a:p>
            <a:pPr lvl="1">
              <a:spcAft>
                <a:spcPts val="600"/>
              </a:spcAft>
              <a:defRPr sz="1300"/>
            </a:pPr>
            <a:r>
              <a:t>α_ν = (λ₀² A_ul / 8π) · (g_u/g_l · n_l − n_u) · φ_ν      τ(ν) = Σ_k α_ν,k Δs_k</a:t>
            </a:r>
          </a:p>
          <a:p>
            <a:pPr lvl="1">
              <a:spcAft>
                <a:spcPts val="600"/>
              </a:spcAft>
              <a:defRPr sz="1300"/>
            </a:pPr>
            <a:r>
              <a:t>Doppler b = √(2k_B T / m_X + ξ²) with optional microturbulence; population inversions flagged, not clipped</a:t>
            </a:r>
          </a:p>
          <a:p>
            <a:pPr>
              <a:spcAft>
                <a:spcPts val="600"/>
              </a:spcAft>
              <a:defRPr sz="1500" b="1"/>
            </a:pPr>
            <a:r>
              <a:t>Important caveat: this is an equilibrium bound-bound diagnostic</a:t>
            </a:r>
          </a:p>
          <a:p>
            <a:pPr lvl="1">
              <a:spcAft>
                <a:spcPts val="600"/>
              </a:spcAft>
              <a:defRPr sz="1300"/>
            </a:pPr>
            <a:r>
              <a:t>CHIANTI populations do not respond to trapped radiation — large τ flags a failure of the thin assumption,</a:t>
            </a:r>
          </a:p>
          <a:p>
            <a:pPr lvl="1">
              <a:spcAft>
                <a:spcPts val="600"/>
              </a:spcAft>
              <a:defRPr sz="1300"/>
            </a:pPr>
            <a:r>
              <a:t>it is not a prediction of the emergent intensity. The code does not solve dI/ds = −αI + j.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C13A-3633-EF5B-A0CE-AA072B6C4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176612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Next steps now that we have the synthesis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70817-D81B-F5C8-B594-F478CB88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0350347" cy="4525963"/>
          </a:xfrm>
        </p:spPr>
        <p:txBody>
          <a:bodyPr/>
          <a:lstStyle/>
          <a:p>
            <a:r>
              <a:rPr lang="en-US" dirty="0"/>
              <a:t>Outflows of AR boundaries (top priority)</a:t>
            </a:r>
          </a:p>
          <a:p>
            <a:r>
              <a:rPr lang="en-US" dirty="0"/>
              <a:t>Compare with observed SUMER/EIS/SPICE data in QS/</a:t>
            </a:r>
            <a:r>
              <a:rPr lang="en-US"/>
              <a:t>Coronal holes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1972F-0388-BDE8-4336-2824BD1FA391}"/>
              </a:ext>
            </a:extLst>
          </p:cNvPr>
          <p:cNvSpPr txBox="1"/>
          <p:nvPr/>
        </p:nvSpPr>
        <p:spPr>
          <a:xfrm>
            <a:off x="8945696" y="26440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084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932</Words>
  <Application>Microsoft Macintosh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sinSPICE</vt:lpstr>
      <vt:lpstr>What the code needs from your MURaM runs</vt:lpstr>
      <vt:lpstr>Product 1: forward synthesis (optically thin)</vt:lpstr>
      <vt:lpstr>Product 2: SPICE line opacity diagnostic</vt:lpstr>
      <vt:lpstr>Next steps now that we have the synthesis working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Molnar, Momchil E.</cp:lastModifiedBy>
  <cp:revision>6</cp:revision>
  <dcterms:created xsi:type="dcterms:W3CDTF">2013-01-27T09:14:16Z</dcterms:created>
  <dcterms:modified xsi:type="dcterms:W3CDTF">2026-09-15T18:28:18Z</dcterms:modified>
  <cp:category/>
</cp:coreProperties>
</file>